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Office" Type="http://schemas.openxmlformats.org/officeDocument/2006/relationships/officeDocument" Target="ppt/presentation.xml"/><Relationship Id="rIdCore" Type="http://schemas.openxmlformats.org/package/2006/relationships/metadata/core-properties" Target="docProps/core.xml"/><Relationship Id="rIdApp" Type="http://schemas.openxmlformats.org/officeDocument/2006/relationships/extended-properties" Target="docProps/app.xml"/><Relationship Id="rIdCustom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autoCompressPictures="0">
  <p:sldMasterIdLst>
    <p:sldMasterId id="2147483648" r:id="rIdMaster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Master" Type="http://schemas.openxmlformats.org/officeDocument/2006/relationships/slideMaster" Target="slideMasters/slideMaster1.xml"/><Relationship Id="rIdNotesMaster" Type="http://schemas.openxmlformats.org/officeDocument/2006/relationships/notesMaster" Target="notesMasters/notesMaster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chart>
    <c:autoTitleDeleted val="1"/>
    <c:plotArea>
      <c:layout/>
      <c:barChart>
        <c:barDir val="col"/>
        <c:grouping val="clustered"/>
        <c:ser>
          <c:idx val="0"/>
          <c:order val="0"/>
          <c:tx>
            <c:v>Pipeline</c:v>
          </c:tx>
          <c:cat>
            <c:strLit>
              <c:ptCount val="3"/>
              <c:pt idx="0">
                <c:v>Q1</c:v>
              </c:pt>
              <c:pt idx="1">
                <c:v>Q2</c:v>
              </c:pt>
              <c:pt idx="2">
                <c:v>Q3</c:v>
              </c:pt>
            </c:strLit>
          </c:cat>
          <c:val>
            <c:numLit>
              <c:formatCode>0</c:formatCode>
              <c:ptCount val="3"/>
              <c:pt idx="0">
                <c:v>42</c:v>
              </c:pt>
              <c:pt idx="1">
                <c:v>57</c:v>
              </c:pt>
              <c:pt idx="2">
                <c:v>68</c:v>
              </c:pt>
            </c:numLit>
          </c:val>
        </c:ser>
        <c:axId val="123456"/>
        <c:axId val="654321"/>
      </c:barChart>
      <c:catAx>
        <c:axId val="123456"/>
        <c:scaling>
          <c:orientation val="minMax"/>
        </c:scaling>
        <c:axPos val="b"/>
        <c:crossAx val="654321"/>
      </c:catAx>
      <c:valAx>
        <c:axId val="654321"/>
        <c:scaling>
          <c:orientation val="minMax"/>
        </c:scaling>
        <c:axPos val="l"/>
        <c:crossAx val="123456"/>
      </c:valAx>
    </c:plotArea>
    <c:plotVisOnly val="1"/>
  </c:chart>
</c:chartSpace>
</file>

<file path=ppt/notesMasters/_rels/notesMaster1.xml.rels><?xml version="1.0" encoding="UTF-8" standalone="yes"?><Relationships xmlns="http://schemas.openxmlformats.org/package/2006/relationships"><Relationship Id="rIdTheme" Type="http://schemas.openxmlformats.org/officeDocument/2006/relationships/theme" Target="../theme/theme1.xml"/></Relationships>
</file>

<file path=ppt/notesMasters/notesMaster1.xml><?xml version="1.0" encoding="utf-8"?>
<p:notes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 accent1="accent1" accent2="accent2" accent3="accent3" accent4="accent4" accent5="accent5" accent6="accent6" bg1="lt1" bg2="lt2" folHlink="folHlink" hlink="hlink" tx1="dk1" tx2="dk2"/>
</p:notesMaster>
</file>

<file path=ppt/notesSlides/_rels/notesSlide1.xml.rels><?xml version="1.0" encoding="UTF-8" standalone="yes"?><Relationships xmlns="http://schemas.openxmlformats.org/package/2006/relationships"><Relationship Id="rIdSlide" Type="http://schemas.openxmlformats.org/officeDocument/2006/relationships/slide" Target="../slides/slide1.xml"/><Relationship Id="rIdNotesMaster" Type="http://schemas.openxmlformats.org/officeDocument/2006/relationships/notesMaster" Target="../notesMasters/notesMaster1.xml"/></Relationships>
</file>

<file path=ppt/notesSlides/_rels/notesSlide2.xml.rels><?xml version="1.0" encoding="UTF-8" standalone="yes"?><Relationships xmlns="http://schemas.openxmlformats.org/package/2006/relationships"><Relationship Id="rIdSlide" Type="http://schemas.openxmlformats.org/officeDocument/2006/relationships/slide" Target="../slides/slide2.xml"/><Relationship Id="rIdNotesMaster" Type="http://schemas.openxmlformats.org/officeDocument/2006/relationships/notesMaster" Target="../notesMasters/notesMaster1.xml"/></Relationships>
</file>

<file path=ppt/notesSlides/_rels/notesSlide3.xml.rels><?xml version="1.0" encoding="UTF-8" standalone="yes"?><Relationships xmlns="http://schemas.openxmlformats.org/package/2006/relationships"><Relationship Id="rIdSlide" Type="http://schemas.openxmlformats.org/officeDocument/2006/relationships/slide" Target="../slides/slide3.xml"/><Relationship Id="rIdNotesMaster" Type="http://schemas.openxmlformats.org/officeDocument/2006/relationships/notesMaster" Target="../notesMasters/notesMaster1.xml"/></Relationships>
</file>

<file path=ppt/notesSlides/_rels/notesSlide4.xml.rels><?xml version="1.0" encoding="UTF-8" standalone="yes"?><Relationships xmlns="http://schemas.openxmlformats.org/package/2006/relationships"><Relationship Id="rIdSlide" Type="http://schemas.openxmlformats.org/officeDocument/2006/relationships/slide" Target="../slides/slide4.xml"/><Relationship Id="rIdNotesMaster" Type="http://schemas.openxmlformats.org/officeDocument/2006/relationships/notesMaster" Target="../notesMasters/notesMaster1.xml"/></Relationships>
</file>

<file path=ppt/notesSlides/_rels/notesSlide5.xml.rels><?xml version="1.0" encoding="UTF-8" standalone="yes"?><Relationships xmlns="http://schemas.openxmlformats.org/package/2006/relationships"><Relationship Id="rIdSlide" Type="http://schemas.openxmlformats.org/officeDocument/2006/relationships/slide" Target="../slides/slide5.xml"/><Relationship Id="rIdNotesMaster" Type="http://schemas.openxmlformats.org/officeDocument/2006/relationships/notesMaster" Target="../notesMasters/notesMaster1.xml"/></Relationships>
</file>

<file path=ppt/notesSlides/_rels/notesSlide6.xml.rels><?xml version="1.0" encoding="UTF-8" standalone="yes"?><Relationships xmlns="http://schemas.openxmlformats.org/package/2006/relationships"><Relationship Id="rIdSlide" Type="http://schemas.openxmlformats.org/officeDocument/2006/relationships/slide" Target="../slides/slide6.xml"/><Relationship Id="rIdNotesMaster" Type="http://schemas.openxmlformats.org/officeDocument/2006/relationships/notesMaster" Target="../notesMasters/notesMaster1.xml"/></Relationships>
</file>

<file path=ppt/notesSlides/_rels/notesSlide7.xml.rels><?xml version="1.0" encoding="UTF-8" standalone="yes"?><Relationships xmlns="http://schemas.openxmlformats.org/package/2006/relationships"><Relationship Id="rIdSlide" Type="http://schemas.openxmlformats.org/officeDocument/2006/relationships/slide" Target="../slides/slide7.xml"/><Relationship Id="rIdNotesMaster" Type="http://schemas.openxmlformats.org/officeDocument/2006/relationships/notesMaster" Target="../notesMasters/notesMaster1.xml"/></Relationships>
</file>

<file path=ppt/notesSlides/_rels/notesSlide8.xml.rels><?xml version="1.0" encoding="UTF-8" standalone="yes"?><Relationships xmlns="http://schemas.openxmlformats.org/package/2006/relationships"><Relationship Id="rIdSlide" Type="http://schemas.openxmlformats.org/officeDocument/2006/relationships/slide" Target="../slides/slide8.xml"/><Relationship Id="rIdNotesMaster" Type="http://schemas.openxmlformats.org/officeDocument/2006/relationships/notesMaster" Target="../notesMasters/notesMaster1.xml"/></Relationships>
</file>

<file path=ppt/notesSlides/_rels/notesSlide9.xml.rels><?xml version="1.0" encoding="UTF-8" standalone="yes"?><Relationships xmlns="http://schemas.openxmlformats.org/package/2006/relationships"><Relationship Id="rIdSlide" Type="http://schemas.openxmlformats.org/officeDocument/2006/relationships/slide" Target="../slides/slide9.xml"/><Relationship Id="rIdNotesMaster" Type="http://schemas.openxmlformats.org/officeDocument/2006/relationships/notesMaster" Target="../notesMasters/notesMaster1.xml"/></Relationships>
</file>

<file path=ppt/notesSlides/_rels/notesSlide10.xml.rels><?xml version="1.0" encoding="UTF-8" standalone="yes"?><Relationships xmlns="http://schemas.openxmlformats.org/package/2006/relationships"><Relationship Id="rIdSlide" Type="http://schemas.openxmlformats.org/officeDocument/2006/relationships/slide" Target="../slides/slide10.xml"/><Relationship Id="rIdNotesMaster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1"/>
          <p:cNvSpPr/>
          <p:nvPr/>
        </p:nvSpPr>
        <p:spPr>
          <a:xfrm>
            <a:off x="500000" y="500000"/>
            <a:ext cx="8000000" cy="3000000"/>
          </a:xfrm>
          <a:prstGeom prst="rect">
            <a:avLst/>
          </a:prstGeom>
        </p:spPr>
        <p:txBody>
          <a:bodyPr/>
          <a:lstStyle/>
          <a:p>
            <a:r>
              <a:rPr lang="en-US" sz="2400"/>
              <a:t>Speaker note 1: preserve this talk track. Transition to slide 2.</a:t>
            </a:r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2"/>
          <p:cNvSpPr/>
          <p:nvPr/>
        </p:nvSpPr>
        <p:spPr>
          <a:xfrm>
            <a:off x="500000" y="500000"/>
            <a:ext cx="8000000" cy="3000000"/>
          </a:xfrm>
          <a:prstGeom prst="rect">
            <a:avLst/>
          </a:prstGeom>
        </p:spPr>
        <p:txBody>
          <a:bodyPr/>
          <a:lstStyle/>
          <a:p>
            <a:r>
              <a:rPr lang="en-US" sz="2400"/>
              <a:t>Speaker note 2: preserve this talk track. Transition to slide 3.</a:t>
            </a:r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3"/>
          <p:cNvSpPr/>
          <p:nvPr/>
        </p:nvSpPr>
        <p:spPr>
          <a:xfrm>
            <a:off x="500000" y="500000"/>
            <a:ext cx="8000000" cy="3000000"/>
          </a:xfrm>
          <a:prstGeom prst="rect">
            <a:avLst/>
          </a:prstGeom>
        </p:spPr>
        <p:txBody>
          <a:bodyPr/>
          <a:lstStyle/>
          <a:p>
            <a:r>
              <a:rPr lang="en-US" sz="2400"/>
              <a:t>Speaker note 3: preserve this talk track. Transition to slide 4.</a:t>
            </a:r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4"/>
          <p:cNvSpPr/>
          <p:nvPr/>
        </p:nvSpPr>
        <p:spPr>
          <a:xfrm>
            <a:off x="500000" y="500000"/>
            <a:ext cx="8000000" cy="3000000"/>
          </a:xfrm>
          <a:prstGeom prst="rect">
            <a:avLst/>
          </a:prstGeom>
        </p:spPr>
        <p:txBody>
          <a:bodyPr/>
          <a:lstStyle/>
          <a:p>
            <a:r>
              <a:rPr lang="en-US" sz="2400"/>
              <a:t>Speaker note 4: preserve this talk track. Transition to slide 5.</a:t>
            </a:r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5"/>
          <p:cNvSpPr/>
          <p:nvPr/>
        </p:nvSpPr>
        <p:spPr>
          <a:xfrm>
            <a:off x="500000" y="500000"/>
            <a:ext cx="8000000" cy="3000000"/>
          </a:xfrm>
          <a:prstGeom prst="rect">
            <a:avLst/>
          </a:prstGeom>
        </p:spPr>
        <p:txBody>
          <a:bodyPr/>
          <a:lstStyle/>
          <a:p>
            <a:r>
              <a:rPr lang="en-US" sz="2400"/>
              <a:t>Speaker note 5: preserve this talk track. Transition to slide 6.</a:t>
            </a:r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6"/>
          <p:cNvSpPr/>
          <p:nvPr/>
        </p:nvSpPr>
        <p:spPr>
          <a:xfrm>
            <a:off x="500000" y="500000"/>
            <a:ext cx="8000000" cy="3000000"/>
          </a:xfrm>
          <a:prstGeom prst="rect">
            <a:avLst/>
          </a:prstGeom>
        </p:spPr>
        <p:txBody>
          <a:bodyPr/>
          <a:lstStyle/>
          <a:p>
            <a:r>
              <a:rPr lang="en-US" sz="2400"/>
              <a:t>Speaker note 6: preserve this talk track. Transition to slide 7.</a:t>
            </a:r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7"/>
          <p:cNvSpPr/>
          <p:nvPr/>
        </p:nvSpPr>
        <p:spPr>
          <a:xfrm>
            <a:off x="500000" y="500000"/>
            <a:ext cx="8000000" cy="3000000"/>
          </a:xfrm>
          <a:prstGeom prst="rect">
            <a:avLst/>
          </a:prstGeom>
        </p:spPr>
        <p:txBody>
          <a:bodyPr/>
          <a:lstStyle/>
          <a:p>
            <a:r>
              <a:rPr lang="en-US" sz="2400"/>
              <a:t>Speaker note 7: preserve this talk track. Transition to slide 8.</a:t>
            </a:r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8"/>
          <p:cNvSpPr/>
          <p:nvPr/>
        </p:nvSpPr>
        <p:spPr>
          <a:xfrm>
            <a:off x="500000" y="500000"/>
            <a:ext cx="8000000" cy="3000000"/>
          </a:xfrm>
          <a:prstGeom prst="rect">
            <a:avLst/>
          </a:prstGeom>
        </p:spPr>
        <p:txBody>
          <a:bodyPr/>
          <a:lstStyle/>
          <a:p>
            <a:r>
              <a:rPr lang="en-US" sz="2400"/>
              <a:t>Speaker note 8: preserve this talk track. Transition to slide 9.</a:t>
            </a:r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9"/>
          <p:cNvSpPr/>
          <p:nvPr/>
        </p:nvSpPr>
        <p:spPr>
          <a:xfrm>
            <a:off x="500000" y="500000"/>
            <a:ext cx="8000000" cy="3000000"/>
          </a:xfrm>
          <a:prstGeom prst="rect">
            <a:avLst/>
          </a:prstGeom>
        </p:spPr>
        <p:txBody>
          <a:bodyPr/>
          <a:lstStyle/>
          <a:p>
            <a:r>
              <a:rPr lang="en-US" sz="2400"/>
              <a:t>Speaker note 9: preserve this talk track. Transition to slide 10.</a:t>
            </a:r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10"/>
          <p:cNvSpPr/>
          <p:nvPr/>
        </p:nvSpPr>
        <p:spPr>
          <a:xfrm>
            <a:off x="500000" y="500000"/>
            <a:ext cx="8000000" cy="3000000"/>
          </a:xfrm>
          <a:prstGeom prst="rect">
            <a:avLst/>
          </a:prstGeom>
        </p:spPr>
        <p:txBody>
          <a:bodyPr/>
          <a:lstStyle/>
          <a:p>
            <a:r>
              <a:rPr lang="en-US" sz="2400"/>
              <a:t>Speaker note 10: preserve this talk track. Transition to slide 1.</a:t>
            </a:r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Master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Theme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 name="Fixture Master">
    <p:spTree>
      <p:nvGrpSpPr>
        <p:cNvPr id="1" name=""/>
        <p:cNvGrpSpPr/>
        <p:nvPr/>
      </p:nvGrpSpPr>
      <p:grpSpPr/>
    </p:spTree>
  </p:cSld>
  <p:clrMap accent1="accent1" accent2="accent2" accent3="accent3" accent4="accent4" accent5="accent5" accent6="accent6" bg1="lt1" bg2="lt2" folHlink="folHlink" hlink="hlink" tx1="dk1" tx2="dk2"/>
  <p:sldLayoutIdLst>
    <p:sldLayoutId id="1" r:id="rIdLayout"/>
  </p:sldLayoutIdLst>
  <p:txStyles/>
</p:sldMaster>
</file>

<file path=ppt/slides/_rels/slide1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Image" Type="http://schemas.openxmlformats.org/officeDocument/2006/relationships/image" Target="../media/brand.png"/><Relationship Id="rIdNotes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Image" Type="http://schemas.openxmlformats.org/officeDocument/2006/relationships/image" Target="../media/brand.png"/><Relationship Id="rIdNotes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Image" Type="http://schemas.openxmlformats.org/officeDocument/2006/relationships/image" Target="../media/brand.png"/><Relationship Id="rIdNotes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Image" Type="http://schemas.openxmlformats.org/officeDocument/2006/relationships/image" Target="../media/brand.png"/><Relationship Id="rIdNotes" Type="http://schemas.openxmlformats.org/officeDocument/2006/relationships/notesSlide" Target="../notesSlides/notesSlide4.xml"/><Relationship Id="rIdChart" Type="http://schemas.openxmlformats.org/officeDocument/2006/relationships/chart" Target="../charts/chart1.xml"/></Relationships>
</file>

<file path=ppt/slides/_rels/slide5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Image" Type="http://schemas.openxmlformats.org/officeDocument/2006/relationships/image" Target="../media/brand.png"/><Relationship Id="rIdNotes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Image" Type="http://schemas.openxmlformats.org/officeDocument/2006/relationships/image" Target="../media/brand.png"/><Relationship Id="rIdNotes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Image" Type="http://schemas.openxmlformats.org/officeDocument/2006/relationships/image" Target="../media/brand.png"/><Relationship Id="rIdNotes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Image" Type="http://schemas.openxmlformats.org/officeDocument/2006/relationships/image" Target="../media/brand.png"/><Relationship Id="rIdNotes" Type="http://schemas.openxmlformats.org/officeDocument/2006/relationships/notesSlide" Target="../notesSlides/notesSlide8.xml"/><Relationship Id="rIdLink" Type="http://schemas.openxmlformats.org/officeDocument/2006/relationships/hyperlink" Target="https://example.com/evidence" TargetMode="External"/></Relationships>
</file>

<file path=ppt/slides/_rels/slide9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Image" Type="http://schemas.openxmlformats.org/officeDocument/2006/relationships/image" Target="../media/brand.png"/><Relationship Id="rIdNotes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Image" Type="http://schemas.openxmlformats.org/officeDocument/2006/relationships/image" Target="../media/brand.png"/><Relationship Id="rIdNotes" Type="http://schemas.openxmlformats.org/officeDocument/2006/relationships/notesSlide" Target="../notesSlides/notesSlide10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 name="Fixture slide 1"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700000" y="500000"/>
            <a:ext cx="10500000" cy="900000"/>
          </a:xfrm>
          <a:prstGeom prst="rect">
            <a:avLst/>
          </a:prstGeom>
        </p:spPr>
        <p:txBody>
          <a:bodyPr/>
          <a:lstStyle/>
          <a:p>
            <a:r>
              <a:rPr lang="en-US" sz="2400"/>
              <a:t>Board Deck</a:t>
            </a:r>
            <a:endParaRPr lang="en-US"/>
          </a:p>
        </p:txBody>
      </p:sp>
      <p:sp>
        <p:nvSpPr>
          <p:cNvPr id="3" name="Body"/>
          <p:cNvSpPr/>
          <p:nvPr/>
        </p:nvSpPr>
        <p:spPr>
          <a:xfrm>
            <a:off x="900000" y="1600000"/>
            <a:ext cx="9800000" cy="3200000"/>
          </a:xfrm>
          <a:prstGeom prst="rect">
            <a:avLst/>
          </a:prstGeom>
        </p:spPr>
        <p:txBody>
          <a:bodyPr/>
          <a:lstStyle/>
          <a:p>
            <a:r>
              <a:rPr lang="en-US" sz="2400"/>
              <a:t>Fixture deck with factual claims, notes, media, links, and package sentinels.</a:t>
            </a:r>
            <a:endParaRPr lang="en-US"/>
          </a:p>
        </p:txBody>
      </p:sp>
      <p:pic>
        <p:nvPicPr>
          <p:cNvPr id="4" name="Official brand mark" descr="Official fixture brand asset"/>
          <p:cNvPicPr/>
          <p:nvPr/>
        </p:nvPicPr>
        <p:blipFill>
          <a:blip r:embed="rIdImage"/>
          <a:stretch>
            <a:fillRect/>
          </a:stretch>
        </p:blipFill>
        <p:spPr>
          <a:xfrm>
            <a:off x="10200000" y="400000"/>
            <a:ext cx="1300000" cy="650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 name="Fixture slide 2"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700000" y="500000"/>
            <a:ext cx="10500000" cy="900000"/>
          </a:xfrm>
          <a:prstGeom prst="rect">
            <a:avLst/>
          </a:prstGeom>
        </p:spPr>
        <p:txBody>
          <a:bodyPr/>
          <a:lstStyle/>
          <a:p>
            <a:r>
              <a:rPr lang="en-US" sz="2400"/>
              <a:t>The decision in one page</a:t>
            </a:r>
            <a:endParaRPr lang="en-US"/>
          </a:p>
        </p:txBody>
      </p:sp>
      <p:sp>
        <p:nvSpPr>
          <p:cNvPr id="3" name="Body"/>
          <p:cNvSpPr/>
          <p:nvPr/>
        </p:nvSpPr>
        <p:spPr>
          <a:xfrm>
            <a:off x="900000" y="1600000"/>
            <a:ext cx="9800000" cy="3200000"/>
          </a:xfrm>
          <a:prstGeom prst="rect">
            <a:avLst/>
          </a:prstGeom>
        </p:spPr>
        <p:txBody>
          <a:bodyPr/>
          <a:lstStyle/>
          <a:p>
            <a:r>
              <a:rPr lang="en-US" sz="2400"/>
              <a:t>Revenue is 42, retention is 68%, and the evidence window ends 2026-06-30.</a:t>
            </a:r>
            <a:endParaRPr lang="en-US"/>
          </a:p>
        </p:txBody>
      </p:sp>
      <p:pic>
        <p:nvPicPr>
          <p:cNvPr id="4" name="Official brand mark" descr="Official fixture brand asset"/>
          <p:cNvPicPr/>
          <p:nvPr/>
        </p:nvPicPr>
        <p:blipFill>
          <a:blip r:embed="rIdImage"/>
          <a:stretch>
            <a:fillRect/>
          </a:stretch>
        </p:blipFill>
        <p:spPr>
          <a:xfrm>
            <a:off x="10200000" y="400000"/>
            <a:ext cx="1300000" cy="650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 name="Fixture slide 3"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700000" y="500000"/>
            <a:ext cx="10500000" cy="900000"/>
          </a:xfrm>
          <a:prstGeom prst="rect">
            <a:avLst/>
          </a:prstGeom>
        </p:spPr>
        <p:txBody>
          <a:bodyPr/>
          <a:lstStyle/>
          <a:p>
            <a:r>
              <a:rPr lang="en-US" sz="2400"/>
              <a:t>What changed and what did not</a:t>
            </a:r>
            <a:endParaRPr lang="en-US"/>
          </a:p>
        </p:txBody>
      </p:sp>
      <p:sp>
        <p:nvSpPr>
          <p:cNvPr id="3" name="Body"/>
          <p:cNvSpPr/>
          <p:nvPr/>
        </p:nvSpPr>
        <p:spPr>
          <a:xfrm>
            <a:off x="900000" y="1600000"/>
            <a:ext cx="9800000" cy="3200000"/>
          </a:xfrm>
          <a:prstGeom prst="rect">
            <a:avLst/>
          </a:prstGeom>
        </p:spPr>
        <p:txBody>
          <a:bodyPr/>
          <a:lstStyle/>
          <a:p>
            <a:r>
              <a:rPr lang="en-US" sz="2400"/>
              <a:t>Preserve wording, numbers, chart values, citations, notes, and object identity when requested.</a:t>
            </a:r>
            <a:endParaRPr lang="en-US"/>
          </a:p>
        </p:txBody>
      </p:sp>
      <p:pic>
        <p:nvPicPr>
          <p:cNvPr id="4" name="Official brand mark" descr="Official fixture brand asset"/>
          <p:cNvPicPr/>
          <p:nvPr/>
        </p:nvPicPr>
        <p:blipFill>
          <a:blip r:embed="rIdImage"/>
          <a:stretch>
            <a:fillRect/>
          </a:stretch>
        </p:blipFill>
        <p:spPr>
          <a:xfrm>
            <a:off x="10200000" y="400000"/>
            <a:ext cx="1300000" cy="650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 name="Fixture slide 4"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700000" y="500000"/>
            <a:ext cx="10500000" cy="900000"/>
          </a:xfrm>
          <a:prstGeom prst="rect">
            <a:avLst/>
          </a:prstGeom>
        </p:spPr>
        <p:txBody>
          <a:bodyPr/>
          <a:lstStyle/>
          <a:p>
            <a:r>
              <a:rPr lang="en-US" sz="2400"/>
              <a:t>Pipeline evidence</a:t>
            </a:r>
            <a:endParaRPr lang="en-US"/>
          </a:p>
        </p:txBody>
      </p:sp>
      <p:sp>
        <p:nvSpPr>
          <p:cNvPr id="3" name="Body"/>
          <p:cNvSpPr/>
          <p:nvPr/>
        </p:nvSpPr>
        <p:spPr>
          <a:xfrm>
            <a:off x="900000" y="1600000"/>
            <a:ext cx="9800000" cy="3200000"/>
          </a:xfrm>
          <a:prstGeom prst="rect">
            <a:avLst/>
          </a:prstGeom>
        </p:spPr>
        <p:txBody>
          <a:bodyPr/>
          <a:lstStyle/>
          <a:p>
            <a:r>
              <a:rPr lang="en-US" sz="2400"/>
              <a:t>Quarterly values are Q1 42, Q2 57, Q3 68. Caveat: values are illustrative fixture data.</a:t>
            </a:r>
            <a:endParaRPr lang="en-US"/>
          </a:p>
        </p:txBody>
      </p:sp>
      <p:pic>
        <p:nvPicPr>
          <p:cNvPr id="4" name="Official brand mark" descr="Official fixture brand asset"/>
          <p:cNvPicPr/>
          <p:nvPr/>
        </p:nvPicPr>
        <p:blipFill>
          <a:blip r:embed="rIdImage"/>
          <a:stretch>
            <a:fillRect/>
          </a:stretch>
        </p:blipFill>
        <p:spPr>
          <a:xfrm>
            <a:off x="10200000" y="400000"/>
            <a:ext cx="1300000" cy="650000"/>
          </a:xfrm>
          <a:prstGeom prst="rect">
            <a:avLst/>
          </a:prstGeom>
        </p:spPr>
      </p:pic>
      <p:graphicFrame>
        <p:nvGraphicFramePr>
          <p:cNvPr id="10" name="Pipeline chart"/>
          <p:cNvGraphicFramePr/>
          <p:nvPr/>
        </p:nvGraphicFramePr>
        <p:xfrm>
          <a:off x="1200000" y="1900000"/>
          <a:ext cx="9000000" cy="4300000"/>
        </p:xfrm>
        <a:graphic>
          <a:graphicData uri="http://schemas.openxmlformats.org/drawingml/2006/chart">
            <c:chart r:id="rIdChart"/>
          </a:graphicData>
        </a:graphic>
      </p:graphicFrame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 name="Fixture slide 5"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700000" y="500000"/>
            <a:ext cx="10500000" cy="900000"/>
          </a:xfrm>
          <a:prstGeom prst="rect">
            <a:avLst/>
          </a:prstGeom>
        </p:spPr>
        <p:txBody>
          <a:bodyPr/>
          <a:lstStyle/>
          <a:p>
            <a:r>
              <a:rPr lang="en-US" sz="2400"/>
              <a:t>Operating model</a:t>
            </a:r>
            <a:endParaRPr lang="en-US"/>
          </a:p>
        </p:txBody>
      </p:sp>
      <p:sp>
        <p:nvSpPr>
          <p:cNvPr id="3" name="Body"/>
          <p:cNvSpPr/>
          <p:nvPr/>
        </p:nvSpPr>
        <p:spPr>
          <a:xfrm>
            <a:off x="900000" y="1600000"/>
            <a:ext cx="9800000" cy="3200000"/>
          </a:xfrm>
          <a:prstGeom prst="rect">
            <a:avLst/>
          </a:prstGeom>
        </p:spPr>
        <p:txBody>
          <a:bodyPr/>
          <a:lstStyle/>
          <a:p>
            <a:r>
              <a:rPr lang="en-US" sz="2400"/>
              <a:t>Signal input becomes a decision loop and then a measured outcome.</a:t>
            </a:r>
            <a:endParaRPr lang="en-US"/>
          </a:p>
        </p:txBody>
      </p:sp>
      <p:pic>
        <p:nvPicPr>
          <p:cNvPr id="4" name="Official brand mark" descr="Official fixture brand asset"/>
          <p:cNvPicPr/>
          <p:nvPr/>
        </p:nvPicPr>
        <p:blipFill>
          <a:blip r:embed="rIdImage"/>
          <a:stretch>
            <a:fillRect/>
          </a:stretch>
        </p:blipFill>
        <p:spPr>
          <a:xfrm>
            <a:off x="10200000" y="400000"/>
            <a:ext cx="1300000" cy="650000"/>
          </a:xfrm>
          <a:prstGeom prst="rect">
            <a:avLst/>
          </a:prstGeom>
        </p:spPr>
      </p:pic>
      <p:grpSp>
        <p:nvGrpSpPr>
          <p:cNvPr id="20" name="Operating model group"/>
          <p:cNvGrpSpPr/>
          <p:nvPr/>
        </p:nvGrpSpPr>
        <p:grpSpPr>
          <a:xfrm>
            <a:off x="1200000" y="1800000"/>
            <a:ext cx="9000000" cy="3600000"/>
            <a:chOff x="0" y="0"/>
            <a:chExt cx="9000000" cy="3600000"/>
          </a:xfrm>
        </p:grpSpPr>
        <p:sp>
          <p:nvSpPr>
            <p:cNvPr id="21" name="Signal input"/>
            <p:cNvSpPr/>
            <p:nvPr/>
          </p:nvSpPr>
          <p:spPr>
            <a:xfrm>
              <a:off x="0" y="0"/>
              <a:ext cx="2500000" cy="1200000"/>
            </a:xfrm>
            <a:prstGeom prst="roundRect">
              <a:avLst/>
            </a:prstGeom>
          </p:spPr>
          <p:txBody>
            <a:bodyPr/>
            <a:lstStyle/>
            <a:p>
              <a:r>
                <a:rPr sz="2200"/>
                <a:t>Signal input</a:t>
              </a:r>
            </a:p>
          </p:txBody>
        </p:sp>
        <p:sp>
          <p:nvSpPr>
            <p:cNvPr id="22" name="Decision loop"/>
            <p:cNvSpPr/>
            <p:nvPr/>
          </p:nvSpPr>
          <p:spPr>
            <a:xfrm>
              <a:off x="3250000" y="1000000"/>
              <a:ext cx="2500000" cy="1200000"/>
            </a:xfrm>
            <a:prstGeom prst="roundRect">
              <a:avLst/>
            </a:prstGeom>
          </p:spPr>
          <p:txBody>
            <a:bodyPr/>
            <a:lstStyle/>
            <a:p>
              <a:r>
                <a:rPr sz="2200"/>
                <a:t>Decision loop</a:t>
              </a:r>
            </a:p>
          </p:txBody>
        </p:sp>
        <p:sp>
          <p:nvSpPr>
            <p:cNvPr id="23" name="Measured outcome"/>
            <p:cNvSpPr/>
            <p:nvPr/>
          </p:nvSpPr>
          <p:spPr>
            <a:xfrm>
              <a:off x="6500000" y="2200000"/>
              <a:ext cx="2500000" cy="1200000"/>
            </a:xfrm>
            <a:prstGeom prst="roundRect">
              <a:avLst/>
            </a:prstGeom>
          </p:spPr>
          <p:txBody>
            <a:bodyPr/>
            <a:lstStyle/>
            <a:p>
              <a:r>
                <a:rPr sz="2200"/>
                <a:t>Measured outcome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 show="0">
  <p:cSld name="Fixture slide 6"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700000" y="500000"/>
            <a:ext cx="10500000" cy="900000"/>
          </a:xfrm>
          <a:prstGeom prst="rect">
            <a:avLst/>
          </a:prstGeom>
        </p:spPr>
        <p:txBody>
          <a:bodyPr/>
          <a:lstStyle/>
          <a:p>
            <a:r>
              <a:rPr lang="en-US" sz="2400"/>
              <a:t>Hidden appendix sentinel</a:t>
            </a:r>
            <a:endParaRPr lang="en-US"/>
          </a:p>
        </p:txBody>
      </p:sp>
      <p:sp>
        <p:nvSpPr>
          <p:cNvPr id="3" name="Body"/>
          <p:cNvSpPr/>
          <p:nvPr/>
        </p:nvSpPr>
        <p:spPr>
          <a:xfrm>
            <a:off x="900000" y="1600000"/>
            <a:ext cx="9800000" cy="3200000"/>
          </a:xfrm>
          <a:prstGeom prst="rect">
            <a:avLst/>
          </a:prstGeom>
        </p:spPr>
        <p:txBody>
          <a:bodyPr/>
          <a:lstStyle/>
          <a:p>
            <a:r>
              <a:rPr lang="en-US" sz="2400"/>
              <a:t>This hidden slide is intentionally present and must not disappear silently.</a:t>
            </a:r>
            <a:endParaRPr lang="en-US"/>
          </a:p>
        </p:txBody>
      </p:sp>
      <p:pic>
        <p:nvPicPr>
          <p:cNvPr id="4" name="Official brand mark" descr="Official fixture brand asset"/>
          <p:cNvPicPr/>
          <p:nvPr/>
        </p:nvPicPr>
        <p:blipFill>
          <a:blip r:embed="rIdImage"/>
          <a:stretch>
            <a:fillRect/>
          </a:stretch>
        </p:blipFill>
        <p:spPr>
          <a:xfrm>
            <a:off x="10200000" y="400000"/>
            <a:ext cx="1300000" cy="650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 name="Fixture slide 7"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700000" y="500000"/>
            <a:ext cx="10500000" cy="900000"/>
          </a:xfrm>
          <a:prstGeom prst="rect">
            <a:avLst/>
          </a:prstGeom>
        </p:spPr>
        <p:txBody>
          <a:bodyPr/>
          <a:lstStyle/>
          <a:p>
            <a:r>
              <a:rPr lang="en-US" sz="2400"/>
              <a:t>Board decision</a:t>
            </a:r>
            <a:endParaRPr lang="en-US"/>
          </a:p>
        </p:txBody>
      </p:sp>
      <p:sp>
        <p:nvSpPr>
          <p:cNvPr id="3" name="Body"/>
          <p:cNvSpPr/>
          <p:nvPr/>
        </p:nvSpPr>
        <p:spPr>
          <a:xfrm>
            <a:off x="900000" y="1600000"/>
            <a:ext cx="9800000" cy="3200000"/>
          </a:xfrm>
          <a:prstGeom prst="rect">
            <a:avLst/>
          </a:prstGeom>
        </p:spPr>
        <p:txBody>
          <a:bodyPr/>
          <a:lstStyle/>
          <a:p>
            <a:r>
              <a:rPr lang="en-US" sz="2400"/>
              <a:t>Approve the next operating cycle. The subtitle below is the precision-edit target.</a:t>
            </a:r>
            <a:endParaRPr lang="en-US"/>
          </a:p>
        </p:txBody>
      </p:sp>
      <p:pic>
        <p:nvPicPr>
          <p:cNvPr id="4" name="Official brand mark" descr="Official fixture brand asset"/>
          <p:cNvPicPr/>
          <p:nvPr/>
        </p:nvPicPr>
        <p:blipFill>
          <a:blip r:embed="rIdImage"/>
          <a:stretch>
            <a:fillRect/>
          </a:stretch>
        </p:blipFill>
        <p:spPr>
          <a:xfrm>
            <a:off x="10200000" y="400000"/>
            <a:ext cx="1300000" cy="650000"/>
          </a:xfrm>
          <a:prstGeom prst="rect">
            <a:avLst/>
          </a:prstGeom>
        </p:spPr>
      </p:pic>
      <p:sp>
        <p:nvSpPr>
          <p:cNvPr id="7" name="Pipeline subtitle"/>
          <p:cNvSpPr/>
          <p:nvPr/>
        </p:nvSpPr>
        <p:spPr>
          <a:xfrm>
            <a:off x="900000" y="5400000"/>
            <a:ext cx="4300000" cy="650000"/>
          </a:xfrm>
          <a:prstGeom prst="rect">
            <a:avLst/>
          </a:prstGeom>
        </p:spPr>
        <p:txBody>
          <a:bodyPr/>
          <a:lstStyle/>
          <a:p>
            <a:r>
              <a:rPr lang="en-US" sz="2400"/>
              <a:t>Q3 pipeline</a:t>
            </a:r>
            <a:endParaRPr lang="en-US"/>
          </a:p>
        </p:txBody>
      </p:sp>
    </p:spTree>
  </p:cSld>
  <p:clrMapOvr>
    <a:masterClrMapping/>
  </p:clrMapOvr>
  <p:transition spd="fast">
    <p:fade/>
  </p:transition>
  <p:timing>
    <p:tnLst>
      <p:par/>
    </p:tnLst>
  </p:timing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 name="Fixture slide 8"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700000" y="500000"/>
            <a:ext cx="10500000" cy="900000"/>
          </a:xfrm>
          <a:prstGeom prst="rect">
            <a:avLst/>
          </a:prstGeom>
        </p:spPr>
        <p:txBody>
          <a:bodyPr/>
          <a:lstStyle/>
          <a:p>
            <a:r>
              <a:rPr lang="en-US" sz="2400"/>
              <a:t>Source and caveat</a:t>
            </a:r>
            <a:endParaRPr lang="en-US"/>
          </a:p>
        </p:txBody>
      </p:sp>
      <p:sp>
        <p:nvSpPr>
          <p:cNvPr id="3" name="Body"/>
          <p:cNvSpPr/>
          <p:nvPr/>
        </p:nvSpPr>
        <p:spPr>
          <a:xfrm>
            <a:off x="900000" y="1600000"/>
            <a:ext cx="9800000" cy="3200000"/>
          </a:xfrm>
          <a:prstGeom prst="rect">
            <a:avLst/>
          </a:prstGeom>
        </p:spPr>
        <p:txBody>
          <a:bodyPr/>
          <a:lstStyle/>
          <a:p>
            <a:r>
              <a:rPr lang="en-US" sz="2400"/>
              <a:t>Citation: Example Evidence Register, accessed 2026-07-10.</a:t>
            </a:r>
            <a:endParaRPr lang="en-US"/>
          </a:p>
        </p:txBody>
      </p:sp>
      <p:pic>
        <p:nvPicPr>
          <p:cNvPr id="4" name="Official brand mark" descr="Official fixture brand asset"/>
          <p:cNvPicPr/>
          <p:nvPr/>
        </p:nvPicPr>
        <p:blipFill>
          <a:blip r:embed="rIdImage"/>
          <a:stretch>
            <a:fillRect/>
          </a:stretch>
        </p:blipFill>
        <p:spPr>
          <a:xfrm>
            <a:off x="10200000" y="400000"/>
            <a:ext cx="1300000" cy="650000"/>
          </a:xfrm>
          <a:prstGeom prst="rect">
            <a:avLst/>
          </a:prstGeom>
        </p:spPr>
      </p:pic>
      <p:sp>
        <p:nvSpPr>
          <p:cNvPr id="30" name="Evidence link"/>
          <p:cNvSpPr/>
          <p:nvPr/>
        </p:nvSpPr>
        <p:spPr>
          <a:xfrm>
            <a:off x="900000" y="4700000"/>
            <a:ext cx="3500000" cy="500000"/>
          </a:xfrm>
          <a:prstGeom prst="rect">
            <a:avLst/>
          </a:prstGeom>
        </p:spPr>
        <p:txBody>
          <a:bodyPr/>
          <a:lstStyle/>
          <a:p>
            <a:r>
              <a:rPr lang="en-US" sz="1800">
                <a:hlinkClick r:id="rIdLink"/>
              </a:rPr>
              <a:t>Source: https://example.com/evidence</a:t>
            </a:r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 name="Fixture slide 9"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700000" y="500000"/>
            <a:ext cx="10500000" cy="900000"/>
          </a:xfrm>
          <a:prstGeom prst="rect">
            <a:avLst/>
          </a:prstGeom>
        </p:spPr>
        <p:txBody>
          <a:bodyPr/>
          <a:lstStyle/>
          <a:p>
            <a:r>
              <a:rPr lang="en-US" sz="2400"/>
              <a:t>Customer voice</a:t>
            </a:r>
            <a:endParaRPr lang="en-US"/>
          </a:p>
        </p:txBody>
      </p:sp>
      <p:sp>
        <p:nvSpPr>
          <p:cNvPr id="3" name="Body"/>
          <p:cNvSpPr/>
          <p:nvPr/>
        </p:nvSpPr>
        <p:spPr>
          <a:xfrm>
            <a:off x="900000" y="1600000"/>
            <a:ext cx="9800000" cy="3200000"/>
          </a:xfrm>
          <a:prstGeom prst="rect">
            <a:avLst/>
          </a:prstGeom>
        </p:spPr>
        <p:txBody>
          <a:bodyPr/>
          <a:lstStyle/>
          <a:p>
            <a:r>
              <a:rPr lang="en-US" sz="2400"/>
              <a:t>Customer quote: "The workflow became predictable without losing judgment."</a:t>
            </a:r>
            <a:endParaRPr lang="en-US"/>
          </a:p>
        </p:txBody>
      </p:sp>
      <p:pic>
        <p:nvPicPr>
          <p:cNvPr id="4" name="Official brand mark" descr="Official fixture brand asset"/>
          <p:cNvPicPr/>
          <p:nvPr/>
        </p:nvPicPr>
        <p:blipFill>
          <a:blip r:embed="rIdImage"/>
          <a:stretch>
            <a:fillRect/>
          </a:stretch>
        </p:blipFill>
        <p:spPr>
          <a:xfrm>
            <a:off x="10200000" y="400000"/>
            <a:ext cx="1300000" cy="650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 name="Fixture slide 10"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700000" y="500000"/>
            <a:ext cx="10500000" cy="900000"/>
          </a:xfrm>
          <a:prstGeom prst="rect">
            <a:avLst/>
          </a:prstGeom>
        </p:spPr>
        <p:txBody>
          <a:bodyPr/>
          <a:lstStyle/>
          <a:p>
            <a:r>
              <a:rPr lang="en-US" sz="2400"/>
              <a:t>Next actions</a:t>
            </a:r>
            <a:endParaRPr lang="en-US"/>
          </a:p>
        </p:txBody>
      </p:sp>
      <p:sp>
        <p:nvSpPr>
          <p:cNvPr id="3" name="Body"/>
          <p:cNvSpPr/>
          <p:nvPr/>
        </p:nvSpPr>
        <p:spPr>
          <a:xfrm>
            <a:off x="900000" y="1600000"/>
            <a:ext cx="9800000" cy="3200000"/>
          </a:xfrm>
          <a:prstGeom prst="rect">
            <a:avLst/>
          </a:prstGeom>
        </p:spPr>
        <p:txBody>
          <a:bodyPr/>
          <a:lstStyle/>
          <a:p>
            <a:r>
              <a:rPr lang="en-US" sz="2400"/>
              <a:t>Owner: leadership team. Due date: 2026-08-15.</a:t>
            </a:r>
            <a:endParaRPr lang="en-US"/>
          </a:p>
        </p:txBody>
      </p:sp>
      <p:pic>
        <p:nvPicPr>
          <p:cNvPr id="4" name="Official brand mark" descr="Official fixture brand asset"/>
          <p:cNvPicPr/>
          <p:nvPr/>
        </p:nvPicPr>
        <p:blipFill>
          <a:blip r:embed="rIdImage"/>
          <a:stretch>
            <a:fillRect/>
          </a:stretch>
        </p:blipFill>
        <p:spPr>
          <a:xfrm>
            <a:off x="10200000" y="400000"/>
            <a:ext cx="1300000" cy="65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Fixture Theme">
  <a:themeElements>
    <a:clrScheme name="Fixture">
      <a:dk1>
        <a:srgbClr val="111111"/>
      </a:dk1>
      <a:lt1>
        <a:srgbClr val="FFFFFF"/>
      </a:lt1>
      <a:dk2>
        <a:srgbClr val="24324A"/>
      </a:dk2>
      <a:lt2>
        <a:srgbClr val="F3F5F7"/>
      </a:lt2>
      <a:accent1>
        <a:srgbClr val="2A6FDB"/>
      </a:accent1>
      <a:accent2>
        <a:srgbClr val="D14F3F"/>
      </a:accent2>
      <a:accent3>
        <a:srgbClr val="2F8F6B"/>
      </a:accent3>
      <a:accent4>
        <a:srgbClr val="8B62B2"/>
      </a:accent4>
      <a:accent5>
        <a:srgbClr val="D19B2A"/>
      </a:accent5>
      <a:accent6>
        <a:srgbClr val="4F768C"/>
      </a:accent6>
      <a:hlink>
        <a:srgbClr val="0563C1"/>
      </a:hlink>
      <a:folHlink>
        <a:srgbClr val="954F72"/>
      </a:folHlink>
    </a:clrScheme>
    <a:fontScheme name="Fixture">
      <a:majorFont>
        <a:latin typeface="Aptos Display"/>
      </a:majorFont>
      <a:minorFont>
        <a:latin typeface="Aptos"/>
      </a:minorFont>
    </a:fontScheme>
    <a:fmtScheme name="Fixtur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Fixture Generator</Application>
  <Slides>10</Slides>
</Properties>
</file>

<file path=docProps/core.xml><?xml version="1.0" encoding="utf-8"?>
<cp:coreProperties xmlns:cp="http://schemas.openxmlformats.org/package/2006/metadata/core-properties" xmlns:dc="http://purl.org/dc/elements/1.1/">
  <dc:title>Board Deck</dc:title>
  <dc:creator>Linlab fixture generator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cisionSentinel">
    <vt:lpwstr>preserve-me</vt:lpwstr>
  </property>
</Properties>
</file>