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Office" Type="http://schemas.openxmlformats.org/officeDocument/2006/relationships/officeDocument" Target="ppt/presentation.xml"/><Relationship Id="rIdCore" Type="http://schemas.openxmlformats.org/package/2006/relationships/metadata/core-properties" Target="docProps/core.xml"/><Relationship Id="rIdApp" Type="http://schemas.openxmlformats.org/officeDocument/2006/relationships/extended-properties" Target="docProps/app.xml"/><Relationship Id="rIdCustom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Master" Type="http://schemas.openxmlformats.org/officeDocument/2006/relationships/slideMaster" Target="slideMasters/slideMaster1.xml"/><Relationship Id="rIdNotesMaster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ser>
          <c:idx val="0"/>
          <c:order val="0"/>
          <c:tx>
            <c:v>Pipeline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0</c:formatCode>
              <c:ptCount val="3"/>
              <c:pt idx="0">
                <c:v>42</c:v>
              </c:pt>
              <c:pt idx="1">
                <c:v>57</c:v>
              </c:pt>
              <c:pt idx="2">
                <c:v>68</c:v>
              </c:pt>
            </c:numLit>
          </c:val>
        </c:ser>
        <c:axId val="123456"/>
        <c:axId val="654321"/>
      </c:barChart>
      <c:catAx>
        <c:axId val="123456"/>
        <c:scaling>
          <c:orientation val="minMax"/>
        </c:scaling>
        <c:axPos val="b"/>
        <c:crossAx val="654321"/>
      </c:catAx>
      <c:valAx>
        <c:axId val="654321"/>
        <c:scaling>
          <c:orientation val="minMax"/>
        </c:scaling>
        <c:axPos val="l"/>
        <c:crossAx val="123456"/>
      </c:valAx>
    </c:plotArea>
    <c:plotVisOnly val="1"/>
  </c:chart>
</c:chartSpace>
</file>

<file path=ppt/notesMasters/_rels/notesMaster1.xml.rels><?xml version="1.0" encoding="UTF-8" standalone="yes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.xml"/><Relationship Id="rIdNotesMaster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.xml"/><Relationship Id="rIdNotesMaster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.xml"/><Relationship Id="rIdNotesMaster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.xml"/><Relationship Id="rIdNotesMaster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5.xml"/><Relationship Id="rIdNotesMaster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6.xml"/><Relationship Id="rIdNotesMaster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7.xml"/><Relationship Id="rIdNotesMaster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8.xml"/><Relationship Id="rIdNotesMaster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9.xml"/><Relationship Id="rIdNotesMaster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0.xml"/><Relationship Id="rIdNotesMaster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1.xml"/><Relationship Id="rIdNotesMaster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2.xml"/><Relationship Id="rIdNotesMaster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3.xml"/><Relationship Id="rIdNotesMaster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4.xml"/><Relationship Id="rIdNotesMaster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1: preserve this talk track. Transition to slide 2.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2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2: preserve this talk track. Transition to slide 3.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3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3: preserve this talk track. Transition to slide 4.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4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4: preserve this talk track. Transition to slide 5.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5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5: preserve this talk track. Transition to slide 6.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6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6: preserve this talk track. Transition to slide 7.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7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7: preserve this talk track. Transition to slide 8.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8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8: preserve this talk track. Transition to slide 9.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9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9: preserve this talk track. Transition to slide 10.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0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10: preserve this talk track. Transition to slide 11.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1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11: preserve this talk track. Transition to slide 12.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2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12: preserve this talk track. Transition to slide 13.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3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13: preserve this talk track. Transition to slide 14.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4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14: preserve this talk track. Transition to slide 1.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Layout"/>
  </p:sldLayoutIdLst>
  <p:txStyles/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4.xml"/><Relationship Id="rIdChart" Type="http://schemas.openxmlformats.org/officeDocument/2006/relationships/chart" Target="../charts/char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8.xml"/><Relationship Id="rIdLink" Type="http://schemas.openxmlformats.org/officeDocument/2006/relationships/hyperlink" Target="https://example.com/evidence" TargetMode="Externa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Annual Strategy Source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Fixture deck with factual claims, notes, media, links, and package sentinels.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2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The decision in one page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Revenue is 42, retention is 68%, and the evidence window ends 2026-06-30.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3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What changed and what did not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Preserve wording, numbers, chart values, citations, notes, and object identity when requested.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4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Pipeline evidence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Quarterly values are Q1 42, Q2 57, Q3 68. Caveat: values are illustrative fixture data.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graphicFrame>
        <p:nvGraphicFramePr>
          <p:cNvPr id="10" name="Pipeline chart"/>
          <p:cNvGraphicFramePr/>
          <p:nvPr/>
        </p:nvGraphicFramePr>
        <p:xfrm>
          <a:off x="1200000" y="1900000"/>
          <a:ext cx="9000000" cy="4300000"/>
        </p:xfrm>
        <a:graphic>
          <a:graphicData uri="http://schemas.openxmlformats.org/drawingml/2006/chart">
            <c:chart r:id="rIdChart"/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5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Operating model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Signal input becomes a decision loop and then a measured outcome.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grpSp>
        <p:nvGrpSpPr>
          <p:cNvPr id="20" name="Operating model group"/>
          <p:cNvGrpSpPr/>
          <p:nvPr/>
        </p:nvGrpSpPr>
        <p:grpSpPr>
          <a:xfrm>
            <a:off x="1200000" y="1800000"/>
            <a:ext cx="9000000" cy="3600000"/>
            <a:chOff x="0" y="0"/>
            <a:chExt cx="9000000" cy="3600000"/>
          </a:xfrm>
        </p:grpSpPr>
        <p:sp>
          <p:nvSpPr>
            <p:cNvPr id="21" name="Signal input"/>
            <p:cNvSpPr/>
            <p:nvPr/>
          </p:nvSpPr>
          <p:spPr>
            <a:xfrm>
              <a:off x="0" y="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Signal input</a:t>
              </a:r>
            </a:p>
          </p:txBody>
        </p:sp>
        <p:sp>
          <p:nvSpPr>
            <p:cNvPr id="22" name="Decision loop"/>
            <p:cNvSpPr/>
            <p:nvPr/>
          </p:nvSpPr>
          <p:spPr>
            <a:xfrm>
              <a:off x="3250000" y="100000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Decision loop</a:t>
              </a:r>
            </a:p>
          </p:txBody>
        </p:sp>
        <p:sp>
          <p:nvSpPr>
            <p:cNvPr id="23" name="Measured outcome"/>
            <p:cNvSpPr/>
            <p:nvPr/>
          </p:nvSpPr>
          <p:spPr>
            <a:xfrm>
              <a:off x="6500000" y="220000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Measured outcome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show="0">
  <p:cSld name="Fixture slide 6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Hidden appendix sentinel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This hidden slide is intentionally present and must not disappear silently.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7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Board decision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Approve the next operating cycle. The subtitle below is the precision-edit target.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/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8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Source and caveat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Citation: Example Evidence Register, accessed 2026-07-10.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sp>
        <p:nvSpPr>
          <p:cNvPr id="30" name="Evidence link"/>
          <p:cNvSpPr/>
          <p:nvPr/>
        </p:nvSpPr>
        <p:spPr>
          <a:xfrm>
            <a:off x="900000" y="4700000"/>
            <a:ext cx="3500000" cy="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hlinkClick r:id="rIdLink"/>
              </a:rPr>
              <a:t>Source: https://example.com/evidence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9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Customer voice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Customer quote: "The workflow became predictable without losing judgment."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0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Next actions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Owner: leadership team. Due date: 2026-08-15.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1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Strategy workstream 11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11; metric 110.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2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Strategy workstream 12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12; metric 111.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3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Strategy workstream 13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13; metric 112.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4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Strategy workstream 14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14; metric 113.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Fixture">
      <a:dk1>
        <a:srgbClr val="111111"/>
      </a:dk1>
      <a:lt1>
        <a:srgbClr val="FFFFFF"/>
      </a:lt1>
      <a:dk2>
        <a:srgbClr val="24324A"/>
      </a:dk2>
      <a:lt2>
        <a:srgbClr val="F3F5F7"/>
      </a:lt2>
      <a:accent1>
        <a:srgbClr val="2A6FDB"/>
      </a:accent1>
      <a:accent2>
        <a:srgbClr val="D14F3F"/>
      </a:accent2>
      <a:accent3>
        <a:srgbClr val="2F8F6B"/>
      </a:accent3>
      <a:accent4>
        <a:srgbClr val="8B62B2"/>
      </a:accent4>
      <a:accent5>
        <a:srgbClr val="D19B2A"/>
      </a:accent5>
      <a:accent6>
        <a:srgbClr val="4F768C"/>
      </a:accent6>
      <a:hlink>
        <a:srgbClr val="0563C1"/>
      </a:hlink>
      <a:folHlink>
        <a:srgbClr val="954F72"/>
      </a:folHlink>
    </a:clrScheme>
    <a:fontScheme name="Fixture">
      <a:majorFont>
        <a:latin typeface="Aptos Display"/>
      </a:majorFont>
      <a:minorFont>
        <a:latin typeface="Aptos"/>
      </a:minorFont>
    </a:fontScheme>
    <a:fmtScheme name="Fixtur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Fixture Generator</Application>
  <Slides>14</Slides>
</Properties>
</file>

<file path=docProps/core.xml><?xml version="1.0" encoding="utf-8"?>
<cp:coreProperties xmlns:cp="http://schemas.openxmlformats.org/package/2006/metadata/core-properties" xmlns:dc="http://purl.org/dc/elements/1.1/">
  <dc:title>Annual Strategy Source</dc:title>
  <dc:creator>Linlab fixture generator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cisionSentinel">
    <vt:lpwstr>preserve-me</vt:lpwstr>
  </property>
</Properties>
</file>